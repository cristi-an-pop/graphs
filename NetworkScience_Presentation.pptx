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726"/>
  </p:normalViewPr>
  <p:slideViewPr>
    <p:cSldViewPr snapToGrid="0" snapToObjects="1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04821"/>
            <a:ext cx="12192000" cy="1470025"/>
          </a:xfrm>
        </p:spPr>
        <p:txBody>
          <a:bodyPr>
            <a:noAutofit/>
          </a:bodyPr>
          <a:lstStyle/>
          <a:p>
            <a:r>
              <a:rPr lang="en-US" sz="6000" b="1" dirty="0"/>
              <a:t>Network Science Co-authorship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3849" y="3883155"/>
            <a:ext cx="6584302" cy="81643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dimacs10-netscience vs Erdos-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Renyi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Barabasi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-Albert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6218A55-FEB3-E111-8B80-584227228084}"/>
              </a:ext>
            </a:extLst>
          </p:cNvPr>
          <p:cNvSpPr txBox="1">
            <a:spLocks/>
          </p:cNvSpPr>
          <p:nvPr/>
        </p:nvSpPr>
        <p:spPr>
          <a:xfrm>
            <a:off x="5607698" y="6041564"/>
            <a:ext cx="6584302" cy="816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Pop Cristian, Pop Răzvan,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Selegean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Victor, Tripon David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0DDC-2453-78F8-C678-F5148293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4BB62-872C-8532-AE7B-F4092C482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400"/>
            </a:pPr>
            <a:r>
              <a:rPr lang="en-US" sz="2400" b="1" dirty="0"/>
              <a:t>dimacs10-netscience (co-authorship network)</a:t>
            </a:r>
          </a:p>
          <a:p>
            <a:pPr>
              <a:defRPr sz="2400"/>
            </a:pPr>
            <a:r>
              <a:rPr lang="en-US" sz="2000" dirty="0"/>
              <a:t>Nodes (authors): 1461</a:t>
            </a:r>
          </a:p>
          <a:p>
            <a:pPr>
              <a:defRPr sz="2400"/>
            </a:pPr>
            <a:r>
              <a:rPr lang="en-US" sz="2000" dirty="0"/>
              <a:t>Edges (co-authorship links): 2742</a:t>
            </a:r>
          </a:p>
          <a:p>
            <a:pPr>
              <a:defRPr sz="2400"/>
            </a:pPr>
            <a:r>
              <a:rPr lang="en-US" sz="2000" dirty="0"/>
              <a:t>Graph type: undirected, unweighted, </a:t>
            </a:r>
            <a:r>
              <a:rPr lang="en-US" sz="2000"/>
              <a:t>no self-loop</a:t>
            </a:r>
          </a:p>
          <a:p>
            <a:pPr marL="0" indent="0">
              <a:buNone/>
              <a:defRPr sz="2400"/>
            </a:pPr>
            <a:endParaRPr lang="en-US" sz="2000" dirty="0"/>
          </a:p>
          <a:p>
            <a:pPr marL="0" indent="0">
              <a:buNone/>
              <a:defRPr sz="2400"/>
            </a:pPr>
            <a:r>
              <a:rPr lang="en-US" sz="2400" b="1" dirty="0"/>
              <a:t>Random Network: Erdos-</a:t>
            </a:r>
            <a:r>
              <a:rPr lang="en-US" sz="2400" b="1" dirty="0" err="1"/>
              <a:t>Renyi</a:t>
            </a:r>
            <a:r>
              <a:rPr lang="en-US" sz="2400" b="1" dirty="0"/>
              <a:t> model</a:t>
            </a:r>
          </a:p>
          <a:p>
            <a:pPr>
              <a:defRPr sz="2400"/>
            </a:pPr>
            <a:r>
              <a:rPr lang="en-US" sz="2000" dirty="0"/>
              <a:t>Nodes: 1461</a:t>
            </a:r>
          </a:p>
          <a:p>
            <a:pPr>
              <a:defRPr sz="2400"/>
            </a:pPr>
            <a:r>
              <a:rPr lang="en-US" sz="2000" dirty="0"/>
              <a:t>Edges: 2728</a:t>
            </a:r>
          </a:p>
          <a:p>
            <a:pPr>
              <a:defRPr sz="2400"/>
            </a:pPr>
            <a:endParaRPr lang="en-US" sz="2000" dirty="0"/>
          </a:p>
          <a:p>
            <a:pPr marL="0" indent="0">
              <a:buNone/>
              <a:defRPr sz="2400"/>
            </a:pPr>
            <a:r>
              <a:rPr lang="en-US" sz="2400" b="1" dirty="0"/>
              <a:t>Scale-free Network: </a:t>
            </a:r>
            <a:r>
              <a:rPr lang="en-US" sz="2400" b="1" dirty="0" err="1"/>
              <a:t>Barabasi</a:t>
            </a:r>
            <a:r>
              <a:rPr lang="en-US" sz="2400" b="1" dirty="0"/>
              <a:t>-Albert model</a:t>
            </a:r>
          </a:p>
          <a:p>
            <a:pPr>
              <a:defRPr sz="2400"/>
            </a:pPr>
            <a:r>
              <a:rPr lang="en-US" sz="2000" dirty="0"/>
              <a:t>Nodes: 1461</a:t>
            </a:r>
          </a:p>
          <a:p>
            <a:pPr>
              <a:defRPr sz="2400"/>
            </a:pPr>
            <a:r>
              <a:rPr lang="en-US" sz="2000" dirty="0"/>
              <a:t>Edges: 2918</a:t>
            </a:r>
          </a:p>
        </p:txBody>
      </p:sp>
    </p:spTree>
    <p:extLst>
      <p:ext uri="{BB962C8B-B14F-4D97-AF65-F5344CB8AC3E}">
        <p14:creationId xmlns:p14="http://schemas.microsoft.com/office/powerpoint/2010/main" val="2281326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0CB8-73ED-02B6-1533-4A33527E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Properties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02F6E5-D50D-156C-6973-88B90B218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173524"/>
              </p:ext>
            </p:extLst>
          </p:nvPr>
        </p:nvGraphicFramePr>
        <p:xfrm>
          <a:off x="1595025" y="2048958"/>
          <a:ext cx="9001949" cy="276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297">
                  <a:extLst>
                    <a:ext uri="{9D8B030D-6E8A-4147-A177-3AD203B41FA5}">
                      <a16:colId xmlns:a16="http://schemas.microsoft.com/office/drawing/2014/main" val="3737601808"/>
                    </a:ext>
                  </a:extLst>
                </a:gridCol>
                <a:gridCol w="1827213">
                  <a:extLst>
                    <a:ext uri="{9D8B030D-6E8A-4147-A177-3AD203B41FA5}">
                      <a16:colId xmlns:a16="http://schemas.microsoft.com/office/drawing/2014/main" val="2060914983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1384432102"/>
                    </a:ext>
                  </a:extLst>
                </a:gridCol>
                <a:gridCol w="2017014">
                  <a:extLst>
                    <a:ext uri="{9D8B030D-6E8A-4147-A177-3AD203B41FA5}">
                      <a16:colId xmlns:a16="http://schemas.microsoft.com/office/drawing/2014/main" val="1731971228"/>
                    </a:ext>
                  </a:extLst>
                </a:gridCol>
              </a:tblGrid>
              <a:tr h="38819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Scale-free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562667"/>
                  </a:ext>
                </a:extLst>
              </a:tr>
              <a:tr h="388197">
                <a:tc>
                  <a:txBody>
                    <a:bodyPr/>
                    <a:lstStyle/>
                    <a:p>
                      <a:r>
                        <a:rPr lang="en-US" sz="2000" dirty="0"/>
                        <a:t>Min/Max/Average 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 / 34 / 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 / 12 / 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 / 103 / 3.99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982699"/>
                  </a:ext>
                </a:extLst>
              </a:tr>
              <a:tr h="388197">
                <a:tc>
                  <a:txBody>
                    <a:bodyPr/>
                    <a:lstStyle/>
                    <a:p>
                      <a:r>
                        <a:rPr lang="en-US" sz="2000" dirty="0"/>
                        <a:t>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775939"/>
                  </a:ext>
                </a:extLst>
              </a:tr>
              <a:tr h="388197">
                <a:tc>
                  <a:txBody>
                    <a:bodyPr/>
                    <a:lstStyle/>
                    <a:p>
                      <a:r>
                        <a:rPr lang="en-US" sz="2000" dirty="0"/>
                        <a:t>Connected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49781"/>
                  </a:ext>
                </a:extLst>
              </a:tr>
              <a:tr h="388197">
                <a:tc>
                  <a:txBody>
                    <a:bodyPr/>
                    <a:lstStyle/>
                    <a:p>
                      <a:r>
                        <a:rPr lang="en-US" sz="2000" dirty="0"/>
                        <a:t>Largest Component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618927"/>
                  </a:ext>
                </a:extLst>
              </a:tr>
              <a:tr h="388197">
                <a:tc>
                  <a:txBody>
                    <a:bodyPr/>
                    <a:lstStyle/>
                    <a:p>
                      <a:r>
                        <a:rPr lang="en-US" sz="2000" dirty="0"/>
                        <a:t>Average shortest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6.04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5.59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4.24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86649"/>
                  </a:ext>
                </a:extLst>
              </a:tr>
              <a:tr h="388197">
                <a:tc>
                  <a:txBody>
                    <a:bodyPr/>
                    <a:lstStyle/>
                    <a:p>
                      <a:r>
                        <a:rPr lang="en-US" sz="2000" dirty="0"/>
                        <a:t>Average clustering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62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59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424C-E439-20D8-CED5-BA96DDBF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Visualization 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2B643A-1508-29A9-8713-91B77D52D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9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5C7-4408-F460-249E-C25B3707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Visualization 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ED4AF-B3E7-1710-E570-609E1729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90" y="1284766"/>
            <a:ext cx="10823510" cy="1849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3CA76A-1A60-E2CD-4E17-E8C8CA6D5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90" y="3168690"/>
            <a:ext cx="10823510" cy="1849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D9B1F4-9E96-869F-2164-1E80C7220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490" y="5052615"/>
            <a:ext cx="10823510" cy="18492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BCED41-BEAB-E6B1-1E71-A0FB550FF771}"/>
              </a:ext>
            </a:extLst>
          </p:cNvPr>
          <p:cNvSpPr txBox="1"/>
          <p:nvPr/>
        </p:nvSpPr>
        <p:spPr>
          <a:xfrm>
            <a:off x="110412" y="1840054"/>
            <a:ext cx="1129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Real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CA15B-BF3A-2F52-5945-31966228C156}"/>
              </a:ext>
            </a:extLst>
          </p:cNvPr>
          <p:cNvSpPr txBox="1"/>
          <p:nvPr/>
        </p:nvSpPr>
        <p:spPr>
          <a:xfrm>
            <a:off x="110412" y="3723979"/>
            <a:ext cx="1129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Random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115EB-B749-AEE5-BCFD-AA3E0B8477CA}"/>
              </a:ext>
            </a:extLst>
          </p:cNvPr>
          <p:cNvSpPr txBox="1"/>
          <p:nvPr/>
        </p:nvSpPr>
        <p:spPr>
          <a:xfrm>
            <a:off x="45098" y="5607904"/>
            <a:ext cx="13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Scale-free</a:t>
            </a:r>
          </a:p>
        </p:txBody>
      </p:sp>
    </p:spTree>
    <p:extLst>
      <p:ext uri="{BB962C8B-B14F-4D97-AF65-F5344CB8AC3E}">
        <p14:creationId xmlns:p14="http://schemas.microsoft.com/office/powerpoint/2010/main" val="162815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A5D1-5D5C-3EBE-01DC-11D528B9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Visualization III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36196F-4122-9A57-9944-28B5EFE9C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78" y="1417638"/>
            <a:ext cx="4280710" cy="2785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C02610-EDB9-B3E8-BDEB-398C6AED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947" y="3429000"/>
            <a:ext cx="4848106" cy="31543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A01586-0EB0-B6FC-CAA9-C6A5F45C1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2" y="1417638"/>
            <a:ext cx="4280710" cy="278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5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23CE-3967-3E06-F685-FAD97CD8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Nodes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C851AA-8634-D415-DBC6-5EC749ED3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311429"/>
              </p:ext>
            </p:extLst>
          </p:nvPr>
        </p:nvGraphicFramePr>
        <p:xfrm>
          <a:off x="725469" y="2738105"/>
          <a:ext cx="490830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089">
                  <a:extLst>
                    <a:ext uri="{9D8B030D-6E8A-4147-A177-3AD203B41FA5}">
                      <a16:colId xmlns:a16="http://schemas.microsoft.com/office/drawing/2014/main" val="2127533527"/>
                    </a:ext>
                  </a:extLst>
                </a:gridCol>
                <a:gridCol w="1674272">
                  <a:extLst>
                    <a:ext uri="{9D8B030D-6E8A-4147-A177-3AD203B41FA5}">
                      <a16:colId xmlns:a16="http://schemas.microsoft.com/office/drawing/2014/main" val="1414862941"/>
                    </a:ext>
                  </a:extLst>
                </a:gridCol>
                <a:gridCol w="1600947">
                  <a:extLst>
                    <a:ext uri="{9D8B030D-6E8A-4147-A177-3AD203B41FA5}">
                      <a16:colId xmlns:a16="http://schemas.microsoft.com/office/drawing/2014/main" val="3040874083"/>
                    </a:ext>
                  </a:extLst>
                </a:gridCol>
              </a:tblGrid>
              <a:tr h="356860">
                <a:tc>
                  <a:txBody>
                    <a:bodyPr/>
                    <a:lstStyle/>
                    <a:p>
                      <a:r>
                        <a:rPr lang="en-US" dirty="0"/>
                        <a:t>Real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 Free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3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34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45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17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56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53146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BAA091-98CE-1587-64D6-FB14BF7DF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48213"/>
              </p:ext>
            </p:extLst>
          </p:nvPr>
        </p:nvGraphicFramePr>
        <p:xfrm>
          <a:off x="6873813" y="2741469"/>
          <a:ext cx="470858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529">
                  <a:extLst>
                    <a:ext uri="{9D8B030D-6E8A-4147-A177-3AD203B41FA5}">
                      <a16:colId xmlns:a16="http://schemas.microsoft.com/office/drawing/2014/main" val="2127533527"/>
                    </a:ext>
                  </a:extLst>
                </a:gridCol>
                <a:gridCol w="1569529">
                  <a:extLst>
                    <a:ext uri="{9D8B030D-6E8A-4147-A177-3AD203B41FA5}">
                      <a16:colId xmlns:a16="http://schemas.microsoft.com/office/drawing/2014/main" val="1414862941"/>
                    </a:ext>
                  </a:extLst>
                </a:gridCol>
                <a:gridCol w="1569529">
                  <a:extLst>
                    <a:ext uri="{9D8B030D-6E8A-4147-A177-3AD203B41FA5}">
                      <a16:colId xmlns:a16="http://schemas.microsoft.com/office/drawing/2014/main" val="3040874083"/>
                    </a:ext>
                  </a:extLst>
                </a:gridCol>
              </a:tblGrid>
              <a:tr h="349360">
                <a:tc>
                  <a:txBody>
                    <a:bodyPr/>
                    <a:lstStyle/>
                    <a:p>
                      <a:r>
                        <a:rPr lang="en-US" dirty="0"/>
                        <a:t>Real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 Free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3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0.021924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0.022408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0.235513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34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0.017579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0.022274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0.214777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45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0.017510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0.021199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0.178849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17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0.017130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0.020611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0.160739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56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0.013582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0.020269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0.060915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5314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84FC62D-81E1-97D6-2CE3-C50BD825D5C5}"/>
              </a:ext>
            </a:extLst>
          </p:cNvPr>
          <p:cNvSpPr txBox="1"/>
          <p:nvPr/>
        </p:nvSpPr>
        <p:spPr>
          <a:xfrm>
            <a:off x="1927822" y="2277513"/>
            <a:ext cx="2473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Largest 5 Degrees: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D43B55-4923-7754-FED3-FF520C91AEF2}"/>
              </a:ext>
            </a:extLst>
          </p:cNvPr>
          <p:cNvSpPr txBox="1"/>
          <p:nvPr/>
        </p:nvSpPr>
        <p:spPr>
          <a:xfrm>
            <a:off x="6873813" y="2279659"/>
            <a:ext cx="460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Largest 5 Betweenness Centralities:</a:t>
            </a:r>
          </a:p>
        </p:txBody>
      </p:sp>
    </p:spTree>
    <p:extLst>
      <p:ext uri="{BB962C8B-B14F-4D97-AF65-F5344CB8AC3E}">
        <p14:creationId xmlns:p14="http://schemas.microsoft.com/office/powerpoint/2010/main" val="132710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F755-FA74-89D1-AB53-CBFDF8CB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8554"/>
            <a:ext cx="10972800" cy="1143000"/>
          </a:xfrm>
        </p:spPr>
        <p:txBody>
          <a:bodyPr>
            <a:noAutofit/>
          </a:bodyPr>
          <a:lstStyle/>
          <a:p>
            <a:r>
              <a:rPr lang="en-US" dirty="0"/>
              <a:t>What type of network is the selected real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70E19-1A00-7C37-3B63-9C311043C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1708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It is a </a:t>
            </a:r>
            <a:r>
              <a:rPr lang="en-US" sz="2000" b="1" dirty="0"/>
              <a:t>Co-authorship/Collaboration Network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Reflects human collaboration and distinct research communities.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Small-World properties: </a:t>
            </a:r>
            <a:r>
              <a:rPr lang="en-US" sz="2000" dirty="0"/>
              <a:t>a high clustering coefficient, as co-authors of a researcher are very likely to co-author with each other.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Scale-Free characteristics: </a:t>
            </a:r>
            <a:r>
              <a:rPr lang="en-US" sz="2000" dirty="0"/>
              <a:t>a heavy-tailed degree distribution where a few highly published researchers act as massive hubs.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These observations are made relative to the metrics of the Erdős-Rényi and </a:t>
            </a:r>
            <a:r>
              <a:rPr lang="en-US" sz="2000" dirty="0" err="1"/>
              <a:t>Barabási</a:t>
            </a:r>
            <a:r>
              <a:rPr lang="en-US" sz="2000" dirty="0"/>
              <a:t>-Albert models.</a:t>
            </a:r>
          </a:p>
        </p:txBody>
      </p:sp>
    </p:spTree>
    <p:extLst>
      <p:ext uri="{BB962C8B-B14F-4D97-AF65-F5344CB8AC3E}">
        <p14:creationId xmlns:p14="http://schemas.microsoft.com/office/powerpoint/2010/main" val="97829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8009-40F2-7E3A-2475-0FE2EF3B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49A9-A580-2283-28E0-CC259F2F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6225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276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Network Science Co-authorship Analysis</vt:lpstr>
      <vt:lpstr>Network Description</vt:lpstr>
      <vt:lpstr>Network Properties</vt:lpstr>
      <vt:lpstr>Network Visualization I</vt:lpstr>
      <vt:lpstr>Network Visualization II</vt:lpstr>
      <vt:lpstr>Network Visualization III</vt:lpstr>
      <vt:lpstr>Important Nodes</vt:lpstr>
      <vt:lpstr>What type of network is the selected real network?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RĂZVAN-GABRIEL POP</cp:lastModifiedBy>
  <cp:revision>10</cp:revision>
  <dcterms:created xsi:type="dcterms:W3CDTF">2013-01-27T09:14:16Z</dcterms:created>
  <dcterms:modified xsi:type="dcterms:W3CDTF">2026-04-09T09:10:26Z</dcterms:modified>
  <cp:category/>
</cp:coreProperties>
</file>
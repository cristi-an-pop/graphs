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15"/>
  </p:normalViewPr>
  <p:slideViewPr>
    <p:cSldViewPr snapToGrid="0" snapToObjects="1">
      <p:cViewPr>
        <p:scale>
          <a:sx n="82" d="100"/>
          <a:sy n="82" d="100"/>
        </p:scale>
        <p:origin x="720" y="-53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04/09/2026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04/09/2026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04/09/2026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04/09/2026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04/09/2026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04/09/2026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04/09/2026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04/09/2026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04/09/2026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04/09/2026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04/09/2026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04/09/2026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504821"/>
            <a:ext cx="12192000" cy="1470025"/>
          </a:xfrm>
        </p:spPr>
        <p:txBody>
          <a:bodyPr>
            <a:noAutofit/>
          </a:bodyPr>
          <a:lstStyle/>
          <a:p>
            <a:r>
              <a:rPr lang="en-US" sz="6000" b="1" dirty="0"/>
              <a:t>Network Science Co-authorship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03849" y="3883155"/>
            <a:ext cx="6584302" cy="1752600"/>
          </a:xfrm>
        </p:spPr>
        <p:txBody>
          <a:bodyPr>
            <a:normAutofit/>
          </a:bodyPr>
          <a:lstStyle/>
          <a:p>
            <a:r>
              <a:rPr lang="en-US" sz="2200" dirty="0"/>
              <a:t>dimacs10-netscience vs Erdos-</a:t>
            </a:r>
            <a:r>
              <a:rPr lang="en-US" sz="2200" dirty="0" err="1"/>
              <a:t>Renyi</a:t>
            </a:r>
            <a:r>
              <a:rPr lang="en-US" sz="2200" dirty="0"/>
              <a:t> and </a:t>
            </a:r>
            <a:r>
              <a:rPr lang="en-US" sz="2200" dirty="0" err="1"/>
              <a:t>Barabasi</a:t>
            </a:r>
            <a:r>
              <a:rPr lang="en-US" sz="2200" dirty="0"/>
              <a:t>-Albert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Dataset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521" y="1280160"/>
            <a:ext cx="7010317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sz="2400" dirty="0"/>
              <a:t>Dataset: dimacs10-netscience (co-authorship network)</a:t>
            </a:r>
          </a:p>
          <a:p>
            <a:pPr>
              <a:defRPr sz="2400"/>
            </a:pPr>
            <a:r>
              <a:rPr sz="2400" dirty="0"/>
              <a:t>Nodes (authors): 1461</a:t>
            </a:r>
          </a:p>
          <a:p>
            <a:pPr>
              <a:defRPr sz="2400"/>
            </a:pPr>
            <a:r>
              <a:rPr sz="2400" dirty="0"/>
              <a:t>Edges (co-authorship links): 2742</a:t>
            </a:r>
          </a:p>
          <a:p>
            <a:pPr>
              <a:defRPr sz="2400"/>
            </a:pPr>
            <a:r>
              <a:rPr sz="2400" dirty="0"/>
              <a:t>Graph type: undirected, unweighted, no self-loops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520" y="1280160"/>
            <a:ext cx="7818872" cy="19389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sz="2400" dirty="0"/>
              <a:t>Null model 1: </a:t>
            </a:r>
            <a:r>
              <a:rPr sz="2400" dirty="0" err="1"/>
              <a:t>Erdos-Renyi</a:t>
            </a:r>
            <a:r>
              <a:rPr sz="2400" dirty="0"/>
              <a:t> G(n, p) using real-network density</a:t>
            </a:r>
          </a:p>
          <a:p>
            <a:pPr>
              <a:defRPr sz="2400"/>
            </a:pPr>
            <a:r>
              <a:rPr sz="2400" dirty="0"/>
              <a:t>Null model 2: </a:t>
            </a:r>
            <a:r>
              <a:rPr sz="2400" dirty="0" err="1"/>
              <a:t>Barabasi</a:t>
            </a:r>
            <a:r>
              <a:rPr sz="2400" dirty="0"/>
              <a:t>-Albert using m ~ M/N</a:t>
            </a:r>
          </a:p>
          <a:p>
            <a:pPr>
              <a:defRPr sz="2400"/>
            </a:pPr>
            <a:r>
              <a:rPr sz="2400" dirty="0"/>
              <a:t>Purpose: compare random, preferential-attachment, and real</a:t>
            </a:r>
            <a:endParaRPr lang="en-US" sz="2400" dirty="0"/>
          </a:p>
          <a:p>
            <a:pPr>
              <a:defRPr sz="2400"/>
            </a:pPr>
            <a:r>
              <a:rPr sz="2400" dirty="0"/>
              <a:t>collaboration structure</a:t>
            </a:r>
          </a:p>
          <a:p>
            <a:pPr>
              <a:defRPr sz="2400"/>
            </a:pPr>
            <a:r>
              <a:rPr sz="2400" dirty="0"/>
              <a:t>ER p used: 0.002571; BA m used: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Topology Comparison</a:t>
            </a:r>
          </a:p>
        </p:txBody>
      </p:sp>
      <p:pic>
        <p:nvPicPr>
          <p:cNvPr id="3" name="Picture 2" descr="topolog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562" y="2100998"/>
            <a:ext cx="8080877" cy="265600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Degree Distribution (log-log)</a:t>
            </a:r>
          </a:p>
        </p:txBody>
      </p:sp>
      <p:pic>
        <p:nvPicPr>
          <p:cNvPr id="3" name="Picture 2" descr="degre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3526" y="2444879"/>
            <a:ext cx="8024949" cy="19682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520" y="1280160"/>
            <a:ext cx="6787114" cy="19389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sz="2400" dirty="0"/>
              <a:t>Real graph clustering is high: 0.694</a:t>
            </a:r>
          </a:p>
          <a:p>
            <a:pPr>
              <a:defRPr sz="2400"/>
            </a:pPr>
            <a:r>
              <a:rPr sz="2400" dirty="0"/>
              <a:t>ER clustering is very low: 0.004</a:t>
            </a:r>
          </a:p>
          <a:p>
            <a:pPr>
              <a:defRPr sz="2400"/>
            </a:pPr>
            <a:r>
              <a:rPr sz="2400" dirty="0"/>
              <a:t>BA max degree is much larger than ER: 103 vs 12</a:t>
            </a:r>
          </a:p>
          <a:p>
            <a:pPr>
              <a:defRPr sz="2400"/>
            </a:pPr>
            <a:r>
              <a:rPr sz="2400" dirty="0"/>
              <a:t>Interpretation: real network shows both small-world </a:t>
            </a:r>
            <a:endParaRPr lang="en-US" sz="2400" dirty="0"/>
          </a:p>
          <a:p>
            <a:pPr>
              <a:defRPr sz="2400"/>
            </a:pPr>
            <a:r>
              <a:rPr sz="2400" dirty="0"/>
              <a:t>clustering and hub structure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Metrics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520" y="1280160"/>
            <a:ext cx="7105984" cy="19389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sz="2400" dirty="0"/>
              <a:t>Real: components=268, LCC=379, diameter=17</a:t>
            </a:r>
          </a:p>
          <a:p>
            <a:pPr>
              <a:defRPr sz="2400"/>
            </a:pPr>
            <a:r>
              <a:rPr sz="2400" dirty="0"/>
              <a:t>ER: components=46, LCC=1415, diameter=12</a:t>
            </a:r>
          </a:p>
          <a:p>
            <a:pPr>
              <a:defRPr sz="2400"/>
            </a:pPr>
            <a:r>
              <a:rPr sz="2400" dirty="0"/>
              <a:t>BA: components=1, LCC=1461, diameter=8</a:t>
            </a:r>
          </a:p>
          <a:p>
            <a:pPr>
              <a:defRPr sz="2400"/>
            </a:pPr>
            <a:r>
              <a:rPr sz="2400" dirty="0"/>
              <a:t>Conclusion: real collaboration is neither purely random </a:t>
            </a:r>
            <a:endParaRPr lang="en-US" sz="2400" dirty="0"/>
          </a:p>
          <a:p>
            <a:pPr>
              <a:defRPr sz="2400"/>
            </a:pPr>
            <a:r>
              <a:rPr sz="2400" dirty="0"/>
              <a:t>nor purely preferential attachment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30DDC-2453-78F8-C678-F51482938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Network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4BB62-872C-8532-AE7B-F4092C482C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  <a:defRPr sz="2400"/>
            </a:pPr>
            <a:r>
              <a:rPr lang="en-US" sz="2400" b="1" dirty="0"/>
              <a:t>dimacs10-netscience (co-authorship network)</a:t>
            </a:r>
          </a:p>
          <a:p>
            <a:pPr>
              <a:defRPr sz="2400"/>
            </a:pPr>
            <a:r>
              <a:rPr lang="en-US" sz="2000" dirty="0"/>
              <a:t>Nodes (authors): 1461</a:t>
            </a:r>
          </a:p>
          <a:p>
            <a:pPr>
              <a:defRPr sz="2400"/>
            </a:pPr>
            <a:r>
              <a:rPr lang="en-US" sz="2000" dirty="0"/>
              <a:t>Edges (co-authorship links): 2742</a:t>
            </a:r>
          </a:p>
          <a:p>
            <a:pPr>
              <a:defRPr sz="2400"/>
            </a:pPr>
            <a:r>
              <a:rPr lang="en-US" sz="2000" dirty="0"/>
              <a:t>Graph type: undirected, unweighted, no self-loops</a:t>
            </a:r>
          </a:p>
          <a:p>
            <a:pPr>
              <a:defRPr sz="2400"/>
            </a:pPr>
            <a:endParaRPr lang="en-US" sz="2000" dirty="0"/>
          </a:p>
          <a:p>
            <a:pPr marL="0" indent="0">
              <a:buNone/>
              <a:defRPr sz="2400"/>
            </a:pPr>
            <a:r>
              <a:rPr lang="en-US" sz="2400" b="1" dirty="0"/>
              <a:t>Random Network: Erdos-</a:t>
            </a:r>
            <a:r>
              <a:rPr lang="en-US" sz="2400" b="1" dirty="0" err="1"/>
              <a:t>Renyi</a:t>
            </a:r>
            <a:r>
              <a:rPr lang="en-US" sz="2400" b="1" dirty="0"/>
              <a:t> model</a:t>
            </a:r>
          </a:p>
          <a:p>
            <a:pPr>
              <a:defRPr sz="2400"/>
            </a:pPr>
            <a:r>
              <a:rPr lang="en-US" sz="2000" dirty="0"/>
              <a:t>Nodes: 1461</a:t>
            </a:r>
          </a:p>
          <a:p>
            <a:pPr>
              <a:defRPr sz="2400"/>
            </a:pPr>
            <a:r>
              <a:rPr lang="en-US" sz="2000" dirty="0"/>
              <a:t>Edges: 2728</a:t>
            </a:r>
          </a:p>
          <a:p>
            <a:pPr>
              <a:defRPr sz="2400"/>
            </a:pPr>
            <a:endParaRPr lang="en-US" sz="2000" dirty="0"/>
          </a:p>
          <a:p>
            <a:pPr marL="0" indent="0">
              <a:buNone/>
              <a:defRPr sz="2400"/>
            </a:pPr>
            <a:r>
              <a:rPr lang="en-US" sz="2400" b="1" dirty="0"/>
              <a:t>Scale-free Network: </a:t>
            </a:r>
            <a:r>
              <a:rPr lang="en-US" sz="2400" b="1" dirty="0" err="1"/>
              <a:t>Barabasi</a:t>
            </a:r>
            <a:r>
              <a:rPr lang="en-US" sz="2400" b="1" dirty="0"/>
              <a:t>-Albert model</a:t>
            </a:r>
          </a:p>
          <a:p>
            <a:pPr>
              <a:defRPr sz="2400"/>
            </a:pPr>
            <a:r>
              <a:rPr lang="en-US" sz="2000" dirty="0"/>
              <a:t>Nodes: 1461</a:t>
            </a:r>
          </a:p>
          <a:p>
            <a:pPr>
              <a:defRPr sz="2400"/>
            </a:pPr>
            <a:r>
              <a:rPr lang="en-US" sz="2000" dirty="0"/>
              <a:t>Edges: 2918</a:t>
            </a:r>
          </a:p>
        </p:txBody>
      </p:sp>
    </p:spTree>
    <p:extLst>
      <p:ext uri="{BB962C8B-B14F-4D97-AF65-F5344CB8AC3E}">
        <p14:creationId xmlns:p14="http://schemas.microsoft.com/office/powerpoint/2010/main" val="22813263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A0CB8-73ED-02B6-1533-4A33527E6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Network Properties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902F6E5-D50D-156C-6973-88B90B218E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9173524"/>
              </p:ext>
            </p:extLst>
          </p:nvPr>
        </p:nvGraphicFramePr>
        <p:xfrm>
          <a:off x="1595025" y="2048958"/>
          <a:ext cx="9001949" cy="2765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1297">
                  <a:extLst>
                    <a:ext uri="{9D8B030D-6E8A-4147-A177-3AD203B41FA5}">
                      <a16:colId xmlns:a16="http://schemas.microsoft.com/office/drawing/2014/main" val="373760180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2060914983"/>
                    </a:ext>
                  </a:extLst>
                </a:gridCol>
                <a:gridCol w="1876425">
                  <a:extLst>
                    <a:ext uri="{9D8B030D-6E8A-4147-A177-3AD203B41FA5}">
                      <a16:colId xmlns:a16="http://schemas.microsoft.com/office/drawing/2014/main" val="1384432102"/>
                    </a:ext>
                  </a:extLst>
                </a:gridCol>
                <a:gridCol w="2017014">
                  <a:extLst>
                    <a:ext uri="{9D8B030D-6E8A-4147-A177-3AD203B41FA5}">
                      <a16:colId xmlns:a16="http://schemas.microsoft.com/office/drawing/2014/main" val="1731971228"/>
                    </a:ext>
                  </a:extLst>
                </a:gridCol>
              </a:tblGrid>
              <a:tr h="38819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Real 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Random 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Scale-free network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4562667"/>
                  </a:ext>
                </a:extLst>
              </a:tr>
              <a:tr h="388197">
                <a:tc>
                  <a:txBody>
                    <a:bodyPr/>
                    <a:lstStyle/>
                    <a:p>
                      <a:r>
                        <a:rPr lang="en-US" sz="2000" dirty="0"/>
                        <a:t>Min/Max/Average Degree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 / 34 / 3.75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0 / 12 / 3.73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 / 103 / 3.99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6982699"/>
                  </a:ext>
                </a:extLst>
              </a:tr>
              <a:tr h="388197">
                <a:tc>
                  <a:txBody>
                    <a:bodyPr/>
                    <a:lstStyle/>
                    <a:p>
                      <a:r>
                        <a:rPr lang="en-US" sz="2000" dirty="0"/>
                        <a:t>Diameter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775939"/>
                  </a:ext>
                </a:extLst>
              </a:tr>
              <a:tr h="388197">
                <a:tc>
                  <a:txBody>
                    <a:bodyPr/>
                    <a:lstStyle/>
                    <a:p>
                      <a:r>
                        <a:rPr lang="en-US" sz="2000" dirty="0"/>
                        <a:t>Connected 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4749781"/>
                  </a:ext>
                </a:extLst>
              </a:tr>
              <a:tr h="388197">
                <a:tc>
                  <a:txBody>
                    <a:bodyPr/>
                    <a:lstStyle/>
                    <a:p>
                      <a:r>
                        <a:rPr lang="en-US" sz="2000" dirty="0"/>
                        <a:t>Largest Component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1415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1461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1618927"/>
                  </a:ext>
                </a:extLst>
              </a:tr>
              <a:tr h="388197">
                <a:tc>
                  <a:txBody>
                    <a:bodyPr/>
                    <a:lstStyle/>
                    <a:p>
                      <a:r>
                        <a:rPr lang="en-US" sz="2000" dirty="0"/>
                        <a:t>Average shortest path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6.04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5.59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4.24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8186649"/>
                  </a:ext>
                </a:extLst>
              </a:tr>
              <a:tr h="388197">
                <a:tc>
                  <a:txBody>
                    <a:bodyPr/>
                    <a:lstStyle/>
                    <a:p>
                      <a:r>
                        <a:rPr lang="en-US" sz="2000" dirty="0"/>
                        <a:t>Average clustering coefficient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0.69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0.004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0.02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7625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25944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3424C-E439-20D8-CED5-BA96DDBF3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Network Visualization I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2B643A-1508-29A9-8713-91B77D52DB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9704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5952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355C7-4408-F460-249E-C25B37074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Network Visualization II</a:t>
            </a:r>
            <a:endParaRPr lang="en-US" sz="3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CED4AF-B3E7-1710-E570-609E17295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490" y="1284766"/>
            <a:ext cx="10823510" cy="184924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43CA76A-1A60-E2CD-4E17-E8C8CA6D5B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8490" y="3168690"/>
            <a:ext cx="10823510" cy="18492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CD9B1F4-9E96-869F-2164-1E80C72205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8490" y="5052615"/>
            <a:ext cx="10823510" cy="184924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1BCED41-BEAB-E6B1-1E71-A0FB550FF771}"/>
              </a:ext>
            </a:extLst>
          </p:cNvPr>
          <p:cNvSpPr txBox="1"/>
          <p:nvPr/>
        </p:nvSpPr>
        <p:spPr>
          <a:xfrm>
            <a:off x="110412" y="1840054"/>
            <a:ext cx="11290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Real</a:t>
            </a:r>
            <a:r>
              <a:rPr lang="en-US" dirty="0"/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ECA15B-BF3A-2F52-5945-31966228C156}"/>
              </a:ext>
            </a:extLst>
          </p:cNvPr>
          <p:cNvSpPr txBox="1"/>
          <p:nvPr/>
        </p:nvSpPr>
        <p:spPr>
          <a:xfrm>
            <a:off x="110412" y="3723979"/>
            <a:ext cx="11290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Random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3115EB-B749-AEE5-BCFD-AA3E0B8477CA}"/>
              </a:ext>
            </a:extLst>
          </p:cNvPr>
          <p:cNvSpPr txBox="1"/>
          <p:nvPr/>
        </p:nvSpPr>
        <p:spPr>
          <a:xfrm>
            <a:off x="45098" y="5607904"/>
            <a:ext cx="13233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Scale-free</a:t>
            </a:r>
          </a:p>
        </p:txBody>
      </p:sp>
    </p:spTree>
    <p:extLst>
      <p:ext uri="{BB962C8B-B14F-4D97-AF65-F5344CB8AC3E}">
        <p14:creationId xmlns:p14="http://schemas.microsoft.com/office/powerpoint/2010/main" val="16281530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7A5D1-5D5C-3EBE-01DC-11D528B9D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Network Visualization III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A01586-0EB0-B6FC-CAA9-C6A5F45C1A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7638"/>
            <a:ext cx="4280710" cy="27851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36196F-4122-9A57-9944-28B5EFE9CB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8606" y="1417638"/>
            <a:ext cx="4280710" cy="27851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1C02610-EDB9-B3E8-BDEB-398C6AEDCB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3069" y="3429001"/>
            <a:ext cx="4848106" cy="3154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8586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E23CE-3967-3E06-F685-FAD97CD86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Important Nodes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7C214-9017-0F08-EA44-DF5A2B478F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417638"/>
            <a:ext cx="3831771" cy="5165724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sz="5100" b="1" dirty="0"/>
              <a:t>Highly Central Nodes in Real Graph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4200" dirty="0"/>
              <a:t>Top 5 by Degree: </a:t>
            </a:r>
          </a:p>
          <a:p>
            <a:pPr marL="0" indent="0">
              <a:buNone/>
            </a:pPr>
            <a:r>
              <a:rPr lang="en-US" sz="4200" dirty="0"/>
              <a:t>Node 44: 34 edges </a:t>
            </a:r>
          </a:p>
          <a:p>
            <a:pPr marL="0" indent="0">
              <a:buNone/>
            </a:pPr>
            <a:r>
              <a:rPr lang="en-US" sz="4200" dirty="0"/>
              <a:t>Node 45: 27 edges </a:t>
            </a:r>
          </a:p>
          <a:p>
            <a:pPr marL="0" indent="0">
              <a:buNone/>
            </a:pPr>
            <a:r>
              <a:rPr lang="en-US" sz="4200" dirty="0"/>
              <a:t>Node 107: 27 edges </a:t>
            </a:r>
          </a:p>
          <a:p>
            <a:pPr marL="0" indent="0">
              <a:buNone/>
            </a:pPr>
            <a:r>
              <a:rPr lang="en-US" sz="4200" dirty="0"/>
              <a:t>Node 46: 21 edges </a:t>
            </a:r>
          </a:p>
          <a:p>
            <a:pPr marL="0" indent="0">
              <a:buNone/>
            </a:pPr>
            <a:r>
              <a:rPr lang="en-US" sz="4200" dirty="0"/>
              <a:t>Node 532: 20 edges </a:t>
            </a:r>
          </a:p>
          <a:p>
            <a:pPr marL="0" indent="0">
              <a:buNone/>
            </a:pPr>
            <a:endParaRPr lang="en-US" sz="4200" dirty="0"/>
          </a:p>
          <a:p>
            <a:pPr marL="0" indent="0">
              <a:buNone/>
            </a:pPr>
            <a:r>
              <a:rPr lang="en-US" sz="4200" dirty="0"/>
              <a:t>Top 5 by Betweenness Centrality: </a:t>
            </a:r>
          </a:p>
          <a:p>
            <a:pPr marL="0" indent="0">
              <a:buNone/>
            </a:pPr>
            <a:r>
              <a:rPr lang="en-US" sz="4200" dirty="0"/>
              <a:t>Node 107: 0.021924 </a:t>
            </a:r>
          </a:p>
          <a:p>
            <a:pPr marL="0" indent="0">
              <a:buNone/>
            </a:pPr>
            <a:r>
              <a:rPr lang="en-US" sz="4200" dirty="0"/>
              <a:t>Node 185: 0.017579 </a:t>
            </a:r>
          </a:p>
          <a:p>
            <a:pPr marL="0" indent="0">
              <a:buNone/>
            </a:pPr>
            <a:r>
              <a:rPr lang="en-US" sz="4200" dirty="0"/>
              <a:t>Node 329: 0.017510 </a:t>
            </a:r>
          </a:p>
          <a:p>
            <a:pPr marL="0" indent="0">
              <a:buNone/>
            </a:pPr>
            <a:r>
              <a:rPr lang="en-US" sz="4200" dirty="0"/>
              <a:t>Node 121: 0.017130 </a:t>
            </a:r>
          </a:p>
          <a:p>
            <a:pPr marL="0" indent="0">
              <a:buNone/>
            </a:pPr>
            <a:r>
              <a:rPr lang="en-US" sz="4200" dirty="0"/>
              <a:t>Node 205: 0.013582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074C14-C96B-825E-1B75-AD00B68CA4FC}"/>
              </a:ext>
            </a:extLst>
          </p:cNvPr>
          <p:cNvSpPr txBox="1"/>
          <p:nvPr/>
        </p:nvSpPr>
        <p:spPr>
          <a:xfrm>
            <a:off x="4441371" y="1305670"/>
            <a:ext cx="3676262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Highly Central Nodes in Random Graph</a:t>
            </a:r>
          </a:p>
          <a:p>
            <a:endParaRPr lang="en-US" dirty="0"/>
          </a:p>
          <a:p>
            <a:r>
              <a:rPr lang="en-US" sz="2000" dirty="0"/>
              <a:t>Top 5 by Degree: </a:t>
            </a:r>
          </a:p>
          <a:p>
            <a:r>
              <a:rPr lang="en-US" sz="2000" dirty="0"/>
              <a:t>Node 670: 12 edges </a:t>
            </a:r>
          </a:p>
          <a:p>
            <a:r>
              <a:rPr lang="en-US" sz="2000" dirty="0"/>
              <a:t>Node 690: 12 edges </a:t>
            </a:r>
          </a:p>
          <a:p>
            <a:r>
              <a:rPr lang="en-US" sz="2000" dirty="0"/>
              <a:t>Node 154: 11 edges </a:t>
            </a:r>
          </a:p>
          <a:p>
            <a:r>
              <a:rPr lang="en-US" sz="2000" dirty="0"/>
              <a:t>Node 29: 10 edges </a:t>
            </a:r>
          </a:p>
          <a:p>
            <a:r>
              <a:rPr lang="en-US" sz="2000" dirty="0"/>
              <a:t>Node 261: 10 edges </a:t>
            </a:r>
          </a:p>
          <a:p>
            <a:endParaRPr lang="en-US" sz="2000" dirty="0"/>
          </a:p>
          <a:p>
            <a:r>
              <a:rPr lang="en-US" sz="2000" dirty="0"/>
              <a:t>Top 5 by Betweenness Centrality: </a:t>
            </a:r>
          </a:p>
          <a:p>
            <a:r>
              <a:rPr lang="en-US" sz="2000" dirty="0"/>
              <a:t>Node 1063: 0.022408 </a:t>
            </a:r>
          </a:p>
          <a:p>
            <a:r>
              <a:rPr lang="en-US" sz="2000" dirty="0"/>
              <a:t>Node 1426: 0.022274 </a:t>
            </a:r>
          </a:p>
          <a:p>
            <a:r>
              <a:rPr lang="en-US" sz="2000" dirty="0"/>
              <a:t>Node 670: 0.021199 </a:t>
            </a:r>
          </a:p>
          <a:p>
            <a:r>
              <a:rPr lang="en-US" sz="2000" dirty="0"/>
              <a:t>Node 29: 0.020611 </a:t>
            </a:r>
          </a:p>
          <a:p>
            <a:r>
              <a:rPr lang="en-US" sz="2000" dirty="0"/>
              <a:t>Node 154: 0.020269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A0743E-3302-1D62-F94B-0DA145953297}"/>
              </a:ext>
            </a:extLst>
          </p:cNvPr>
          <p:cNvSpPr txBox="1"/>
          <p:nvPr/>
        </p:nvSpPr>
        <p:spPr>
          <a:xfrm>
            <a:off x="8223379" y="1286905"/>
            <a:ext cx="3676262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Highly Central Nodes in Scale-Free Graph</a:t>
            </a:r>
          </a:p>
          <a:p>
            <a:endParaRPr lang="en-US" dirty="0"/>
          </a:p>
          <a:p>
            <a:r>
              <a:rPr lang="en-US" sz="2000" dirty="0"/>
              <a:t>Top 5 by Degree:</a:t>
            </a:r>
          </a:p>
          <a:p>
            <a:r>
              <a:rPr lang="en-US" sz="2000" dirty="0"/>
              <a:t>Node 0: 103 edges </a:t>
            </a:r>
          </a:p>
          <a:p>
            <a:r>
              <a:rPr lang="en-US" sz="2000" dirty="0"/>
              <a:t>Node 1: 89 edges </a:t>
            </a:r>
          </a:p>
          <a:p>
            <a:r>
              <a:rPr lang="en-US" sz="2000" dirty="0"/>
              <a:t>Node 4: 78 edges </a:t>
            </a:r>
          </a:p>
          <a:p>
            <a:r>
              <a:rPr lang="en-US" sz="2000" dirty="0"/>
              <a:t>Node 6: 62 edges </a:t>
            </a:r>
          </a:p>
          <a:p>
            <a:r>
              <a:rPr lang="en-US" sz="2000" dirty="0"/>
              <a:t>Node 16: 42 edges </a:t>
            </a:r>
          </a:p>
          <a:p>
            <a:endParaRPr lang="en-US" sz="2000" dirty="0"/>
          </a:p>
          <a:p>
            <a:r>
              <a:rPr lang="en-US" sz="2000" dirty="0"/>
              <a:t>Top 5 by Betweenness Centrality: </a:t>
            </a:r>
          </a:p>
          <a:p>
            <a:r>
              <a:rPr lang="en-US" sz="2000" dirty="0"/>
              <a:t>Node 0: 0.235513 </a:t>
            </a:r>
          </a:p>
          <a:p>
            <a:r>
              <a:rPr lang="en-US" sz="2000" dirty="0"/>
              <a:t>Node 1: 0.214777 </a:t>
            </a:r>
          </a:p>
          <a:p>
            <a:r>
              <a:rPr lang="en-US" sz="2000" dirty="0"/>
              <a:t>Node 4: 0.178849</a:t>
            </a:r>
          </a:p>
          <a:p>
            <a:r>
              <a:rPr lang="en-US" sz="2000" dirty="0"/>
              <a:t>Node 6: 0.160739 </a:t>
            </a:r>
          </a:p>
          <a:p>
            <a:r>
              <a:rPr lang="en-US" sz="2000" dirty="0"/>
              <a:t>Node 16: 0.060915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2CE1A74-3532-598C-DFE4-3C95E2F1AF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6217807"/>
              </p:ext>
            </p:extLst>
          </p:nvPr>
        </p:nvGraphicFramePr>
        <p:xfrm>
          <a:off x="1147533" y="2772084"/>
          <a:ext cx="9683814" cy="2325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7530">
                  <a:extLst>
                    <a:ext uri="{9D8B030D-6E8A-4147-A177-3AD203B41FA5}">
                      <a16:colId xmlns:a16="http://schemas.microsoft.com/office/drawing/2014/main" val="3907867901"/>
                    </a:ext>
                  </a:extLst>
                </a:gridCol>
                <a:gridCol w="2790000">
                  <a:extLst>
                    <a:ext uri="{9D8B030D-6E8A-4147-A177-3AD203B41FA5}">
                      <a16:colId xmlns:a16="http://schemas.microsoft.com/office/drawing/2014/main" val="2873117807"/>
                    </a:ext>
                  </a:extLst>
                </a:gridCol>
                <a:gridCol w="2642743">
                  <a:extLst>
                    <a:ext uri="{9D8B030D-6E8A-4147-A177-3AD203B41FA5}">
                      <a16:colId xmlns:a16="http://schemas.microsoft.com/office/drawing/2014/main" val="3202549202"/>
                    </a:ext>
                  </a:extLst>
                </a:gridCol>
                <a:gridCol w="2423541">
                  <a:extLst>
                    <a:ext uri="{9D8B030D-6E8A-4147-A177-3AD203B41FA5}">
                      <a16:colId xmlns:a16="http://schemas.microsoft.com/office/drawing/2014/main" val="1808895448"/>
                    </a:ext>
                  </a:extLst>
                </a:gridCol>
              </a:tblGrid>
              <a:tr h="677973">
                <a:tc>
                  <a:txBody>
                    <a:bodyPr/>
                    <a:lstStyle/>
                    <a:p>
                      <a:r>
                        <a:rPr lang="en-US" sz="2000" dirty="0"/>
                        <a:t>Centrality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Real 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Random 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Scale-free Network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07758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Hubs(Degree)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Node 44 (34 edges)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Node 670 (12 edges)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Node 0 (103 edges)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9722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Insight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Moderate Concentration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Very flat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Massive hub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515445"/>
                  </a:ext>
                </a:extLst>
              </a:tr>
              <a:tr h="458652">
                <a:tc>
                  <a:txBody>
                    <a:bodyPr/>
                    <a:lstStyle/>
                    <a:p>
                      <a:r>
                        <a:rPr lang="en-US" sz="2000" dirty="0"/>
                        <a:t>Betweenness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Node 107 (0.022)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Node 1063 (0.022)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Node 0 (0.24)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3169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Insight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Strategic connectors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Distributed importance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Structural Bottleneck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38619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71034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2F755-FA74-89D1-AB53-CBFDF8CB5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What type of network is the selected real network?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670E19-1A00-7C37-3B63-9C311043CF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The </a:t>
            </a:r>
            <a:r>
              <a:rPr lang="en-US" sz="2000" b="1" dirty="0"/>
              <a:t>dimacs10-netscience</a:t>
            </a:r>
            <a:r>
              <a:rPr lang="en-US" sz="2000" dirty="0"/>
              <a:t> dataset is an undirected network of co-authorships in the area of network science. 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b="1" dirty="0"/>
              <a:t>Significance &amp; Meaning:</a:t>
            </a:r>
            <a:r>
              <a:rPr lang="en-US" sz="2000" dirty="0"/>
              <a:t> Nodes represent authors (researchers), and links represent a co-authorship between them (they have written a paper together).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b="1" dirty="0"/>
              <a:t>Type of Network:</a:t>
            </a:r>
            <a:r>
              <a:rPr lang="en-US" sz="2000" dirty="0"/>
              <a:t> It is a </a:t>
            </a:r>
            <a:r>
              <a:rPr lang="en-US" sz="2000" b="1" dirty="0"/>
              <a:t>Co-authorship/Collaboration Network</a:t>
            </a:r>
            <a:r>
              <a:rPr lang="en-US" sz="2000" dirty="0"/>
              <a:t>. Because it reflects human collaboration and distinct research communities, it exhibits "small-world" properties (a high clustering coefficient, as co-authors of a researcher are very likely to co-author with each other) and "scale-free" characteristics (a heavy-tailed degree distribution where a few highly published researchers act as massive hubs). We can observe these hallmarks by comparing its structural metrics to the Erdős-Rényi and </a:t>
            </a:r>
            <a:r>
              <a:rPr lang="en-US" sz="2000" dirty="0" err="1"/>
              <a:t>Barabási</a:t>
            </a:r>
            <a:r>
              <a:rPr lang="en-US" sz="2000" dirty="0"/>
              <a:t>-Albert models.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9782908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689</Words>
  <Application>Microsoft Office PowerPoint</Application>
  <PresentationFormat>Widescreen</PresentationFormat>
  <Paragraphs>146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Network Science Co-authorship Analysis</vt:lpstr>
      <vt:lpstr>Dataset Overview</vt:lpstr>
      <vt:lpstr>Experimental Setup</vt:lpstr>
      <vt:lpstr>Topology Comparison</vt:lpstr>
      <vt:lpstr>Degree Distribution (log-log)</vt:lpstr>
      <vt:lpstr>Key Findings</vt:lpstr>
      <vt:lpstr>Core Metrics Summary</vt:lpstr>
      <vt:lpstr>Network Description</vt:lpstr>
      <vt:lpstr>Network Properties</vt:lpstr>
      <vt:lpstr>Network Visualization I</vt:lpstr>
      <vt:lpstr>Network Visualization II</vt:lpstr>
      <vt:lpstr>Network Visualization III</vt:lpstr>
      <vt:lpstr>Important Nodes</vt:lpstr>
      <vt:lpstr>What type of network is the selected real network?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RĂZVAN-GABRIEL POP</cp:lastModifiedBy>
  <cp:revision>4</cp:revision>
  <dcterms:created xsi:type="dcterms:W3CDTF">2013-01-27T09:14:16Z</dcterms:created>
  <dcterms:modified xsi:type="dcterms:W3CDTF">2026-04-09T00:22:27Z</dcterms:modified>
  <cp:category/>
</cp:coreProperties>
</file>